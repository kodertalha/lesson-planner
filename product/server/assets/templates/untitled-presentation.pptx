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8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7053250" cy="9309100"/>
  <p:defaultTextStyle>
    <a:defPPr lvl="0">
      <a:defRPr lang="en-US"/>
    </a:defPPr>
    <a:lvl1pPr eaLnBrk="0" hangingPunct="0" lvl="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eaLnBrk="0" hangingPunct="0" lvl="1" marL="4572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eaLnBrk="0" hangingPunct="0" lvl="2" marL="9144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eaLnBrk="0" hangingPunct="0" lvl="3" marL="13716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eaLnBrk="0" hangingPunct="0" lvl="4" marL="18288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defTabSz="914400" eaLnBrk="1" hangingPunct="1" latinLnBrk="0" lvl="5" marL="2286000" rtl="0" algn="l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defTabSz="914400" eaLnBrk="1" hangingPunct="1" latinLnBrk="0" lvl="6" marL="2743200" rtl="0" algn="l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defTabSz="914400" eaLnBrk="1" hangingPunct="1" latinLnBrk="0" lvl="7" marL="3200400" rtl="0" algn="l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defTabSz="914400" eaLnBrk="1" hangingPunct="1" latinLnBrk="0" lvl="8" marL="3657600" rtl="0" algn="l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5938" cy="465138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5738" y="0"/>
            <a:ext cx="3055937" cy="465138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BC2A4ED-9EE0-4518-85FF-D4BFCD98D4FE}" type="datetimeFigureOut">
              <a:rPr lang="en-US"/>
              <a:pPr>
                <a:defRPr/>
              </a:pPr>
              <a:t>04-Aug-2016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497" tIns="46749" rIns="93497" bIns="4674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4850" y="4421188"/>
            <a:ext cx="5643563" cy="4189412"/>
          </a:xfrm>
          <a:prstGeom prst="rect">
            <a:avLst/>
          </a:prstGeom>
        </p:spPr>
        <p:txBody>
          <a:bodyPr vert="horz" lIns="93497" tIns="46749" rIns="93497" bIns="46749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55938" cy="465138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5738" y="8842375"/>
            <a:ext cx="3055937" cy="465138"/>
          </a:xfrm>
          <a:prstGeom prst="rect">
            <a:avLst/>
          </a:prstGeom>
        </p:spPr>
        <p:txBody>
          <a:bodyPr vert="horz" wrap="square" lIns="93497" tIns="46749" rIns="93497" bIns="4674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4868DE3-099B-4183-88F4-40A9188FA7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E7E031F-2744-46BE-B3A1-B760BB7A0E89}" type="slidenum">
              <a:rPr lang="en-US" altLang="en-US" smtClean="0"/>
              <a:pPr/>
              <a:t>2</a:t>
            </a:fld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674F13-8657-4A2C-B992-A373B187AC06}" type="datetime2">
              <a:rPr lang="en-US" smtClean="0"/>
              <a:pPr>
                <a:defRPr/>
              </a:pPr>
              <a:t>Thursday, August 04, 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Gaseous exchange in plants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0"/>
            <a:ext cx="2133600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3CC10E6-5A0C-4F80-9E95-7E6EB06D9DC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 spd="slow">
    <p:circl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7010400" y="0"/>
            <a:ext cx="2133600" cy="365125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algn="r" eaLnBrk="1" hangingPunct="1">
              <a:defRPr/>
            </a:pPr>
            <a:fld id="{7B9C8340-A9FE-4E81-9FB0-CD01D29F4C22}" type="slidenum">
              <a:rPr lang="en-US" altLang="en-US" sz="1200" smtClean="0"/>
              <a:pPr algn="r" eaLnBrk="1" hangingPunct="1">
                <a:defRPr/>
              </a:pPr>
              <a:t>‹#›</a:t>
            </a:fld>
            <a:endParaRPr lang="en-US" altLang="en-US" sz="1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7010400" y="6492875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A52353-5410-4592-9897-38C4867D879A}" type="datetime2">
              <a:rPr lang="en-US" smtClean="0"/>
              <a:pPr>
                <a:defRPr/>
              </a:pPr>
              <a:t>Thursday, August 04, 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2895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Gaseous exchange in plants</a:t>
            </a:r>
          </a:p>
        </p:txBody>
      </p:sp>
    </p:spTree>
  </p:cSld>
  <p:clrMapOvr>
    <a:masterClrMapping/>
  </p:clrMapOvr>
  <p:transition spd="slow">
    <p:circl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E8D4F2-1213-49E5-86FD-ADEC91173B7A}" type="datetime2">
              <a:rPr lang="en-US" smtClean="0"/>
              <a:pPr>
                <a:defRPr/>
              </a:pPr>
              <a:t>Thursday, August 04, 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Gaseous exchange in plants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0"/>
            <a:ext cx="2133600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2EDD063B-099F-4FDF-AD25-D336C63407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 spd="slow">
    <p:circl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BAAFA7-BC40-460C-8ABF-04AC4F8AB562}" type="datetime2">
              <a:rPr lang="en-US" smtClean="0"/>
              <a:pPr>
                <a:defRPr/>
              </a:pPr>
              <a:t>Thursday, August 04, 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Gaseous exchange in plants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0"/>
            <a:ext cx="2133600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8F46A9B-E601-4874-9214-A1B22AA873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 spd="slow">
    <p:circl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DB5169-6EDF-4A91-AE68-44A2877C4187}" type="datetime2">
              <a:rPr lang="en-US" smtClean="0"/>
              <a:pPr>
                <a:defRPr/>
              </a:pPr>
              <a:t>Thursday, August 04, 2016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Gaseous exchange in plants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0"/>
            <a:ext cx="2133600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6B13EAE-90FE-4222-829D-FA7D44232F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 spd="slow">
    <p:circl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8B4A4C-CA21-4145-985E-26F9E169DEA5}" type="datetime2">
              <a:rPr lang="en-US" smtClean="0"/>
              <a:pPr>
                <a:defRPr/>
              </a:pPr>
              <a:t>Thursday, August 04, 2016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Gaseous exchange in plants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0"/>
            <a:ext cx="2133600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7FD9B2E-60E2-4D39-9B9C-51D0F25F5F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 spd="slow">
    <p:circl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98E297-138D-4003-9B35-90EF6603C097}" type="datetime2">
              <a:rPr lang="en-US" smtClean="0"/>
              <a:pPr>
                <a:defRPr/>
              </a:pPr>
              <a:t>Thursday, August 04, 2016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Gaseous exchange in plants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0"/>
            <a:ext cx="2133600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BA83084-933C-4994-88E4-F8059E3572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 spd="slow">
    <p:circl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1EDEEE-8C9B-452E-BB90-044F549C8FE4}" type="datetime2">
              <a:rPr lang="en-US" smtClean="0"/>
              <a:pPr>
                <a:defRPr/>
              </a:pPr>
              <a:t>Thursday, August 04, 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Gaseous exchange in plants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0"/>
            <a:ext cx="2133600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672DBBF-FCBD-489D-9E4A-D948B2BDE4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 spd="slow">
    <p:circl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BF7A3-B89D-4052-8FBB-44AFA253ACDF}" type="datetime2">
              <a:rPr lang="en-US" smtClean="0"/>
              <a:pPr>
                <a:defRPr/>
              </a:pPr>
              <a:t>Thursday, August 04, 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Gaseous exchange in plants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0"/>
            <a:ext cx="2133600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2ED0433-9600-4FC4-BACB-CC099A7767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 spd="slow">
    <p:circl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41268A-2B78-4195-88D1-AA917075560D}" type="datetime2">
              <a:rPr lang="en-US" smtClean="0"/>
              <a:pPr>
                <a:defRPr/>
              </a:pPr>
              <a:t>Thursday, August 04, 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Gaseous exchange in plants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0"/>
            <a:ext cx="2133600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6F8AA9A-F854-41F9-A61E-563C82D835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 spd="slow">
    <p:circl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FCDABC-2822-4164-97B6-16687C4FF221}" type="datetime2">
              <a:rPr lang="en-US" smtClean="0"/>
              <a:pPr>
                <a:defRPr/>
              </a:pPr>
              <a:t>Thursday, August 04, 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Gaseous exchange in plants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0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655CE29-2355-43D0-B02B-3215296C43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 spd="slow">
    <p:circl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F1FB76-1C3A-4C13-809B-6EC36B94F48F}" type="datetime2">
              <a:rPr lang="en-US" smtClean="0"/>
              <a:pPr>
                <a:defRPr/>
              </a:pPr>
              <a:t>Thursday, August 04, 2016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Gaseous exchange in plants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0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E2F6638-C00A-4775-BAA0-DDE607DEE53F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 spd="slow">
    <p:circl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9567FF-D422-495C-9BF1-502EFDF4085B}" type="datetime2">
              <a:rPr lang="en-US" smtClean="0"/>
              <a:pPr>
                <a:defRPr/>
              </a:pPr>
              <a:t>Thursday, August 04, 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Gaseous exchange in plants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0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0051C61-42FA-4655-9527-A953F2EDA5D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 spd="slow">
    <p:circl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B8BB11A-1893-45CA-825E-F992A9D3EBD4}" type="datetime2">
              <a:rPr lang="en-US" smtClean="0"/>
              <a:pPr>
                <a:defRPr/>
              </a:pPr>
              <a:t>Thursday, August 04, 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Gaseous exchange in plants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152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 altLang="en-US"/>
              <a:t> </a:t>
            </a:r>
            <a:r>
              <a:rPr lang="en-US" altLang="en-US" sz="14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</a:t>
            </a:r>
            <a:endParaRPr lang="en-US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828" r:id="rId1"/>
    <p:sldLayoutId id="2147484829" r:id="rId2"/>
    <p:sldLayoutId id="2147484830" r:id="rId3"/>
    <p:sldLayoutId id="2147484831" r:id="rId4"/>
    <p:sldLayoutId id="2147484832" r:id="rId5"/>
    <p:sldLayoutId id="2147484833" r:id="rId6"/>
    <p:sldLayoutId id="2147484834" r:id="rId7"/>
    <p:sldLayoutId id="2147484835" r:id="rId8"/>
    <p:sldLayoutId id="2147484836" r:id="rId9"/>
    <p:sldLayoutId id="2147484837" r:id="rId10"/>
    <p:sldLayoutId id="2147484838" r:id="rId11"/>
    <p:sldLayoutId id="2147484839" r:id="rId12"/>
    <p:sldLayoutId id="2147484840" r:id="rId13"/>
  </p:sldLayoutIdLst>
  <p:transition spd="slow">
    <p:circle/>
  </p:transition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ideo" Target="file:///F:\biology%20final%20pptz%202016\unit%2001%20gaseous%20exchange\videos\%5bMP4%201080p%5d%20Gas%20Exchange%20in%20Plants.mp4" TargetMode="Externa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 descr="D:\2. Cliparts\2. Islamic\1. Islamic Clips (June-2010)\2. Bismillah (22-June-2010)\5. Bismillah Caligraphy\untitled f.bm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600200"/>
            <a:ext cx="5460388" cy="3657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363" name="Picture 2" descr="2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1143000" cy="1363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8229600" cy="4525963"/>
          </a:xfrm>
        </p:spPr>
        <p:txBody>
          <a:bodyPr/>
          <a:lstStyle/>
          <a:p>
            <a:pPr lvl="3" algn="ctr">
              <a:buFont typeface="Courier New" pitchFamily="49" charset="0"/>
              <a:buChar char="o"/>
            </a:pPr>
            <a:r>
              <a:rPr lang="en-US" sz="3200" b="1" smtClean="0">
                <a:latin typeface="Arial" charset="0"/>
                <a:cs typeface="Arial" charset="0"/>
              </a:rPr>
              <a:t>LESSON 1.</a:t>
            </a:r>
          </a:p>
          <a:p>
            <a:pPr lvl="3" algn="ctr">
              <a:buFont typeface="Arial" charset="0"/>
              <a:buNone/>
            </a:pPr>
            <a:r>
              <a:rPr lang="en-US" sz="3200" i="1" u="sng" smtClean="0">
                <a:latin typeface="Arial" charset="0"/>
                <a:cs typeface="Arial" charset="0"/>
              </a:rPr>
              <a:t> </a:t>
            </a:r>
            <a:r>
              <a:rPr lang="en-US" sz="3200" b="1" i="1" u="sng" smtClean="0">
                <a:latin typeface="Arial" charset="0"/>
                <a:cs typeface="Arial" charset="0"/>
              </a:rPr>
              <a:t>GASEOUS EXCHANGE IN PLANTS</a:t>
            </a:r>
          </a:p>
          <a:p>
            <a:pPr>
              <a:buFont typeface="Arial" charset="0"/>
              <a:buNone/>
            </a:pPr>
            <a:endParaRPr lang="en-US" smtClean="0"/>
          </a:p>
        </p:txBody>
      </p:sp>
      <p:pic>
        <p:nvPicPr>
          <p:cNvPr id="8" name="Picture 2" descr="C:\Users\Haleema Ismail\Desktop\a482b15ad11c5c7fd2615bf1229aefb7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3124200"/>
            <a:ext cx="3657600" cy="33528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388" name="Picture 3" descr="2.pn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1143000" cy="1363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B02451-E4DC-4865-A01C-5B10C26A614A}" type="datetime2">
              <a:rPr lang="en-US" smtClean="0"/>
              <a:pPr>
                <a:defRPr/>
              </a:pPr>
              <a:t>Thursday, August 04, 2016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Gaseous exchange in plants</a:t>
            </a:r>
            <a:endParaRPr lang="en-US"/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228600" y="381000"/>
            <a:ext cx="8229600" cy="685800"/>
          </a:xfrm>
        </p:spPr>
        <p:txBody>
          <a:bodyPr/>
          <a:lstStyle/>
          <a:p>
            <a:r>
              <a:rPr lang="en-US" altLang="en-US" sz="3600" b="1" smtClean="0">
                <a:solidFill>
                  <a:srgbClr val="FFFF00"/>
                </a:solidFill>
                <a:latin typeface="Arial" charset="0"/>
                <a:cs typeface="Arial" charset="0"/>
              </a:rPr>
              <a:t>POINTS TO PONDER</a:t>
            </a: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685800" y="1676400"/>
            <a:ext cx="8458200" cy="4800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 b="1" smtClean="0">
                <a:latin typeface="Arial" charset="0"/>
                <a:cs typeface="Arial" charset="0"/>
              </a:rPr>
              <a:t>Gaseous exchange</a:t>
            </a:r>
          </a:p>
          <a:p>
            <a:pPr>
              <a:lnSpc>
                <a:spcPct val="80000"/>
              </a:lnSpc>
            </a:pPr>
            <a:r>
              <a:rPr lang="en-US" altLang="en-US" sz="2800" b="1" smtClean="0">
                <a:latin typeface="Arial" charset="0"/>
                <a:cs typeface="Arial" charset="0"/>
              </a:rPr>
              <a:t>Breathing </a:t>
            </a:r>
          </a:p>
          <a:p>
            <a:pPr>
              <a:lnSpc>
                <a:spcPct val="80000"/>
              </a:lnSpc>
            </a:pPr>
            <a:r>
              <a:rPr lang="en-US" altLang="en-US" sz="2800" b="1" smtClean="0">
                <a:latin typeface="Arial" charset="0"/>
                <a:cs typeface="Arial" charset="0"/>
              </a:rPr>
              <a:t>Respiration </a:t>
            </a:r>
          </a:p>
          <a:p>
            <a:pPr>
              <a:lnSpc>
                <a:spcPct val="80000"/>
              </a:lnSpc>
            </a:pPr>
            <a:r>
              <a:rPr lang="en-US" altLang="en-US" sz="2800" b="1" smtClean="0">
                <a:latin typeface="Arial" charset="0"/>
                <a:cs typeface="Arial" charset="0"/>
              </a:rPr>
              <a:t>Gaseous exchange in plants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endParaRPr lang="en-US" altLang="en-US" sz="2800" b="1" smtClean="0"/>
          </a:p>
        </p:txBody>
      </p:sp>
      <p:pic>
        <p:nvPicPr>
          <p:cNvPr id="17412" name="Picture 6" descr="2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43000" cy="1363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541F676-AC8B-4459-91E3-2C1BE2C29346}" type="datetime2">
              <a:rPr lang="en-US" smtClean="0"/>
              <a:pPr>
                <a:defRPr/>
              </a:pPr>
              <a:t>Thursday, August 04, 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Gaseous exchange in plants</a:t>
            </a:r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3" dur="20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8" dur="20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3" dur="20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8" dur="20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512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>
                <a:solidFill>
                  <a:srgbClr val="FFFF00"/>
                </a:solidFill>
                <a:latin typeface="Arial" charset="0"/>
                <a:cs typeface="Arial" charset="0"/>
              </a:rPr>
              <a:t>INTRODUCTION</a:t>
            </a:r>
            <a:endParaRPr lang="en-US" sz="3600" smtClean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 algn="ctr">
              <a:buFont typeface="Wingdings" pitchFamily="2" charset="2"/>
              <a:buChar char="Ø"/>
              <a:defRPr/>
            </a:pP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Difference between gaseous exchange, breathing and respiration;</a:t>
            </a:r>
          </a:p>
          <a:p>
            <a:pPr algn="ctr">
              <a:buFont typeface="Wingdings" pitchFamily="2" charset="2"/>
              <a:buChar char="§"/>
              <a:defRPr/>
            </a:pPr>
            <a:r>
              <a:rPr lang="en-US" sz="2800" b="1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Gaseous exchange:</a:t>
            </a:r>
          </a:p>
          <a:p>
            <a:pPr algn="ctr">
              <a:buFont typeface="Arial" charset="0"/>
              <a:buNone/>
              <a:defRPr/>
            </a:pPr>
            <a:endParaRPr lang="en-US" sz="2400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Diffusion of gases from region of higher concentration to region of lower concentration</a:t>
            </a:r>
          </a:p>
          <a:p>
            <a:pPr algn="ctr">
              <a:buFont typeface="Arial" charset="0"/>
              <a:buNone/>
              <a:defRPr/>
            </a:pPr>
            <a:endParaRPr lang="en-US" sz="2400" b="1" dirty="0" smtClean="0">
              <a:latin typeface="Arial" pitchFamily="34" charset="0"/>
              <a:cs typeface="Arial" pitchFamily="34" charset="0"/>
            </a:endParaRPr>
          </a:p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Intake of oxygen and giving out of Carbon dioxide by organism to the outside environment e.g., plants and animals</a:t>
            </a:r>
          </a:p>
          <a:p>
            <a:pPr>
              <a:defRPr/>
            </a:pPr>
            <a:endParaRPr lang="en-US" dirty="0"/>
          </a:p>
        </p:txBody>
      </p:sp>
      <p:pic>
        <p:nvPicPr>
          <p:cNvPr id="18436" name="Picture 6" descr="2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43000" cy="1363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CD8FEA-902B-46AA-9A46-E3CA67AEF379}" type="datetime2">
              <a:rPr lang="en-US" smtClean="0"/>
              <a:pPr>
                <a:defRPr/>
              </a:pPr>
              <a:t>Thursday, August 04, 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Gaseous exchange in plants</a:t>
            </a:r>
            <a:endParaRPr lang="en-US"/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pPr algn="ctr">
              <a:buFont typeface="Wingdings" pitchFamily="2" charset="2"/>
              <a:buChar char="§"/>
            </a:pPr>
            <a:r>
              <a:rPr lang="en-US" sz="2800" b="1" smtClean="0">
                <a:solidFill>
                  <a:srgbClr val="FFFF00"/>
                </a:solidFill>
                <a:latin typeface="Arial" charset="0"/>
                <a:cs typeface="Arial" charset="0"/>
              </a:rPr>
              <a:t>Breathing:</a:t>
            </a:r>
          </a:p>
          <a:p>
            <a:pPr algn="ctr"/>
            <a:r>
              <a:rPr lang="en-US" sz="2400" b="1" smtClean="0">
                <a:latin typeface="Arial" charset="0"/>
                <a:cs typeface="Arial" charset="0"/>
              </a:rPr>
              <a:t>Mechanical or physical process for exchange of gases</a:t>
            </a:r>
          </a:p>
          <a:p>
            <a:pPr algn="ctr"/>
            <a:r>
              <a:rPr lang="en-US" sz="2400" b="1" smtClean="0">
                <a:latin typeface="Arial" charset="0"/>
                <a:cs typeface="Arial" charset="0"/>
              </a:rPr>
              <a:t>Inhalation and exhalation of air</a:t>
            </a:r>
          </a:p>
          <a:p>
            <a:pPr algn="ctr">
              <a:buFont typeface="Arial" charset="0"/>
              <a:buNone/>
            </a:pPr>
            <a:endParaRPr lang="en-US" sz="2400" b="1" smtClean="0">
              <a:latin typeface="Arial" charset="0"/>
              <a:cs typeface="Arial" charset="0"/>
            </a:endParaRPr>
          </a:p>
          <a:p>
            <a:pPr algn="ctr">
              <a:buFont typeface="Wingdings" pitchFamily="2" charset="2"/>
              <a:buChar char="§"/>
            </a:pPr>
            <a:r>
              <a:rPr lang="en-US" sz="2800" b="1" smtClean="0">
                <a:solidFill>
                  <a:srgbClr val="FFFF00"/>
                </a:solidFill>
                <a:latin typeface="Arial" charset="0"/>
                <a:cs typeface="Arial" charset="0"/>
              </a:rPr>
              <a:t>Respiration</a:t>
            </a:r>
          </a:p>
          <a:p>
            <a:pPr algn="ctr"/>
            <a:r>
              <a:rPr lang="en-US" sz="2400" b="1" smtClean="0">
                <a:latin typeface="Arial" charset="0"/>
                <a:cs typeface="Arial" charset="0"/>
              </a:rPr>
              <a:t>Mechanical and biochemical process</a:t>
            </a:r>
          </a:p>
          <a:p>
            <a:pPr algn="ctr"/>
            <a:r>
              <a:rPr lang="en-US" sz="2400" b="1" smtClean="0">
                <a:latin typeface="Arial" charset="0"/>
                <a:cs typeface="Arial" charset="0"/>
              </a:rPr>
              <a:t>Oxidation reduction reactions</a:t>
            </a:r>
          </a:p>
          <a:p>
            <a:pPr algn="ctr"/>
            <a:r>
              <a:rPr lang="en-US" sz="2400" b="1" smtClean="0">
                <a:latin typeface="Arial" charset="0"/>
                <a:cs typeface="Arial" charset="0"/>
              </a:rPr>
              <a:t>Break down of food with the help of oxygen (Aerobic respiration)</a:t>
            </a:r>
          </a:p>
          <a:p>
            <a:pPr algn="ctr"/>
            <a:r>
              <a:rPr lang="en-US" sz="2400" b="1" smtClean="0">
                <a:latin typeface="Arial" charset="0"/>
                <a:cs typeface="Arial" charset="0"/>
              </a:rPr>
              <a:t>Release of energy in the form of ATP</a:t>
            </a:r>
          </a:p>
          <a:p>
            <a:endParaRPr lang="en-US" sz="2400" b="1" smtClean="0"/>
          </a:p>
        </p:txBody>
      </p:sp>
      <p:pic>
        <p:nvPicPr>
          <p:cNvPr id="19459" name="Picture 5" descr="2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43000" cy="1363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50ADD85-E17C-49D3-8CD7-E3248D3B24B3}" type="datetime2">
              <a:rPr lang="en-US" smtClean="0"/>
              <a:pPr>
                <a:defRPr/>
              </a:pPr>
              <a:t>Thursday, August 04, 2016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Gaseous exchange in plants</a:t>
            </a:r>
            <a:endParaRPr lang="en-US"/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1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1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1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1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543800" cy="1143000"/>
          </a:xfrm>
        </p:spPr>
        <p:txBody>
          <a:bodyPr/>
          <a:lstStyle/>
          <a:p>
            <a:r>
              <a:rPr lang="en-US" sz="3600" b="1" smtClean="0">
                <a:solidFill>
                  <a:srgbClr val="FFFF00"/>
                </a:solidFill>
                <a:latin typeface="Arial" charset="0"/>
                <a:cs typeface="Arial" charset="0"/>
              </a:rPr>
              <a:t>GASEOUS EXCHANGE IN PLANTS</a:t>
            </a:r>
            <a:endParaRPr lang="en-US" sz="3600" smtClean="0">
              <a:solidFill>
                <a:srgbClr val="FFFF00"/>
              </a:solidFill>
            </a:endParaRPr>
          </a:p>
        </p:txBody>
      </p:sp>
      <p:pic>
        <p:nvPicPr>
          <p:cNvPr id="4" name="Picture 2" descr="C:\Users\Haleema Ismail\Desktop\12A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81000" y="1447800"/>
            <a:ext cx="2743200" cy="25019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3" descr="C:\Users\Haleema Ismail\Desktop\621164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86200" y="1600200"/>
            <a:ext cx="4953000" cy="3886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0" y="4191000"/>
            <a:ext cx="4038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latin typeface="Arial" charset="0"/>
              </a:rPr>
              <a:t>Gaseous exchange day  vs. night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267200" y="5791200"/>
            <a:ext cx="426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>
                <a:latin typeface="Arial" charset="0"/>
              </a:rPr>
              <a:t>Internal structure of leaf</a:t>
            </a:r>
          </a:p>
        </p:txBody>
      </p:sp>
      <p:pic>
        <p:nvPicPr>
          <p:cNvPr id="20487" name="Picture 9" descr="2.pn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1143000" cy="1363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C32AB7E-974D-42BC-8DC7-42854DA8743E}" type="datetime2">
              <a:rPr lang="en-US" smtClean="0"/>
              <a:pPr>
                <a:defRPr/>
              </a:pPr>
              <a:t>Thursday, August 04, 2016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Gaseous exchange in plants</a:t>
            </a:r>
            <a:endParaRPr lang="en-US"/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5" descr="2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1143000" cy="1363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524000" y="304800"/>
            <a:ext cx="6096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600" b="1">
                <a:solidFill>
                  <a:srgbClr val="FFFF00"/>
                </a:solidFill>
                <a:latin typeface="Arial" charset="0"/>
              </a:rPr>
              <a:t>GASEOUS EXCHANGE IN PLANTS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pPr>
              <a:defRPr/>
            </a:pPr>
            <a:fld id="{65BB2EA6-35C2-400F-A72A-A77DDD11DF95}" type="datetime2">
              <a:rPr lang="en-US" smtClean="0"/>
              <a:pPr>
                <a:defRPr/>
              </a:pPr>
              <a:t>Thursday, August 04, 2016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2F6638-C00A-4775-BAA0-DDE607DEE53F}" type="slidenum">
              <a:rPr lang="ar-SA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smtClean="0"/>
              <a:t>Gaseous exchange in plants</a:t>
            </a:r>
            <a:endParaRPr lang="en-US"/>
          </a:p>
        </p:txBody>
      </p:sp>
      <p:pic>
        <p:nvPicPr>
          <p:cNvPr id="12" name="[MP4 1080p] Gas Exchange in Plants.mp4">
            <a:hlinkClick r:id="" action="ppaction://media"/>
          </p:cNvPr>
          <p:cNvPicPr>
            <a:picLocks noGrp="1" noRot="1" noChangeAspect="1"/>
          </p:cNvPicPr>
          <p:nvPr>
            <p:ph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524000" y="1524000"/>
            <a:ext cx="6197600" cy="4648200"/>
          </a:xfrm>
          <a:prstGeom prst="rect">
            <a:avLst/>
          </a:prstGeom>
        </p:spPr>
      </p:pic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vide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7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7467600" cy="1143000"/>
          </a:xfrm>
        </p:spPr>
        <p:txBody>
          <a:bodyPr/>
          <a:lstStyle/>
          <a:p>
            <a:r>
              <a:rPr lang="en-US" sz="3600" b="1" smtClean="0">
                <a:solidFill>
                  <a:srgbClr val="FFFF00"/>
                </a:solidFill>
                <a:latin typeface="Arial" charset="0"/>
                <a:cs typeface="Arial" charset="0"/>
              </a:rPr>
              <a:t>GASEOUS EXCHANGE IN PLANTS</a:t>
            </a:r>
            <a:endParaRPr lang="en-US" sz="3600" smtClean="0">
              <a:solidFill>
                <a:srgbClr val="FFFF00"/>
              </a:solidFill>
            </a:endParaRP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smtClean="0">
                <a:latin typeface="Arial" charset="0"/>
                <a:cs typeface="Arial" charset="0"/>
              </a:rPr>
              <a:t>No special respiratory organs e.g., lungs or gills</a:t>
            </a:r>
          </a:p>
          <a:p>
            <a:r>
              <a:rPr lang="en-US" sz="2400" b="1" smtClean="0">
                <a:latin typeface="Arial" charset="0"/>
                <a:cs typeface="Arial" charset="0"/>
              </a:rPr>
              <a:t>Large surface area compared to volume for exchange of gases by diffusion</a:t>
            </a:r>
          </a:p>
          <a:p>
            <a:pPr algn="ctr">
              <a:buFont typeface="Wingdings" pitchFamily="2" charset="2"/>
              <a:buChar char="Ø"/>
            </a:pPr>
            <a:r>
              <a:rPr lang="en-US" sz="2800" b="1" smtClean="0">
                <a:solidFill>
                  <a:srgbClr val="FFFF00"/>
                </a:solidFill>
                <a:latin typeface="Arial" charset="0"/>
                <a:cs typeface="Arial" charset="0"/>
              </a:rPr>
              <a:t>Structures involved for exchange of gases in terrestrial plants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400" b="1" smtClean="0">
                <a:latin typeface="Arial" charset="0"/>
                <a:cs typeface="Arial" charset="0"/>
              </a:rPr>
              <a:t>Stomata and spaces among mesophyll cells:</a:t>
            </a:r>
          </a:p>
          <a:p>
            <a:pPr algn="just"/>
            <a:r>
              <a:rPr lang="en-US" sz="2400" b="1" smtClean="0">
                <a:latin typeface="Arial" charset="0"/>
                <a:cs typeface="Arial" charset="0"/>
              </a:rPr>
              <a:t>Hole like structures present in epidermis of leaves and young stems………stomata</a:t>
            </a:r>
          </a:p>
          <a:p>
            <a:pPr algn="just"/>
            <a:r>
              <a:rPr lang="en-US" sz="2400" b="1" smtClean="0">
                <a:latin typeface="Arial" charset="0"/>
                <a:cs typeface="Arial" charset="0"/>
              </a:rPr>
              <a:t>Exchange of gases and water vapors</a:t>
            </a:r>
            <a:endParaRPr lang="en-US" sz="2400" b="1" smtClean="0"/>
          </a:p>
        </p:txBody>
      </p:sp>
      <p:pic>
        <p:nvPicPr>
          <p:cNvPr id="5" name="Picture 3" descr="C:\Users\Haleema Ismail\Desktop\stomata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4724400"/>
            <a:ext cx="2895600" cy="2133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2533" name="Picture 6" descr="2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1143000" cy="1363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312A34A-4CD9-46A5-805E-66B13FD67C2B}" type="datetime2">
              <a:rPr lang="en-US" smtClean="0"/>
              <a:pPr>
                <a:defRPr/>
              </a:pPr>
              <a:t>Thursday, August 04, 2016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Gaseous exchange in plants</a:t>
            </a:r>
            <a:endParaRPr lang="en-US"/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  <p:bldP spid="1024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4525963"/>
          </a:xfrm>
        </p:spPr>
        <p:txBody>
          <a:bodyPr/>
          <a:lstStyle/>
          <a:p>
            <a:pPr lvl="3">
              <a:buFont typeface="Wingdings" pitchFamily="2" charset="2"/>
              <a:buChar char="Ø"/>
              <a:defRPr/>
            </a:pPr>
            <a:r>
              <a:rPr lang="en-US" sz="2800" b="1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Two situations in leaf;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400" b="1" i="1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Day time:</a:t>
            </a:r>
          </a:p>
          <a:p>
            <a:pPr marL="514350" indent="-514350">
              <a:buFont typeface="Arial" pitchFamily="34" charset="0"/>
              <a:buChar char="•"/>
              <a:defRPr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Photosynthesis and respiration side by side</a:t>
            </a:r>
          </a:p>
          <a:p>
            <a:pPr marL="514350" indent="-514350">
              <a:buFont typeface="Arial" pitchFamily="34" charset="0"/>
              <a:buChar char="•"/>
              <a:defRPr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Oxygen produced in photosynthesis….used in cellular respiration</a:t>
            </a:r>
          </a:p>
          <a:p>
            <a:pPr marL="514350" indent="-514350">
              <a:buFont typeface="Arial" pitchFamily="34" charset="0"/>
              <a:buChar char="•"/>
              <a:defRPr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Carbon dioxide produced in cellular respiration….used in photosynthesis</a:t>
            </a:r>
          </a:p>
          <a:p>
            <a:pPr marL="514350" indent="-514350">
              <a:buFont typeface="Arial" charset="0"/>
              <a:buNone/>
              <a:defRPr/>
            </a:pPr>
            <a:r>
              <a:rPr lang="en-US" sz="2400" b="1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2.	</a:t>
            </a:r>
            <a:r>
              <a:rPr lang="en-US" sz="2400" b="1" i="1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Night time:</a:t>
            </a:r>
          </a:p>
          <a:p>
            <a:pPr marL="514350" indent="-514350">
              <a:buFont typeface="Arial" pitchFamily="34" charset="0"/>
              <a:buChar char="•"/>
              <a:defRPr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No photosynthesis only respiration</a:t>
            </a:r>
          </a:p>
          <a:p>
            <a:pPr marL="514350" indent="-514350">
              <a:buFont typeface="Arial" pitchFamily="34" charset="0"/>
              <a:buChar char="•"/>
              <a:defRPr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Cells get oxygen from the environment </a:t>
            </a:r>
          </a:p>
          <a:p>
            <a:pPr marL="514350" indent="-514350">
              <a:buFont typeface="Arial" pitchFamily="34" charset="0"/>
              <a:buChar char="•"/>
              <a:defRPr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Release carbon dioxide to the outside environment</a:t>
            </a:r>
          </a:p>
          <a:p>
            <a:pPr>
              <a:defRPr/>
            </a:pPr>
            <a:endParaRPr lang="en-US" sz="2400" b="1" dirty="0"/>
          </a:p>
        </p:txBody>
      </p:sp>
      <p:pic>
        <p:nvPicPr>
          <p:cNvPr id="23555" name="Picture 6" descr="2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43000" cy="1363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AB2C40-0CF8-424F-8EE5-471B85C90266}" type="datetime2">
              <a:rPr lang="en-US" smtClean="0"/>
              <a:pPr>
                <a:defRPr/>
              </a:pPr>
              <a:t>Thursday, August 04, 2016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Gaseous exchange in plants</a:t>
            </a:r>
            <a:endParaRPr lang="en-US"/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ontent Placeholder 2"/>
          <p:cNvSpPr>
            <a:spLocks noGrp="1"/>
          </p:cNvSpPr>
          <p:nvPr>
            <p:ph idx="1"/>
          </p:nvPr>
        </p:nvSpPr>
        <p:spPr>
          <a:xfrm>
            <a:off x="1066800" y="838200"/>
            <a:ext cx="7696200" cy="4525963"/>
          </a:xfrm>
        </p:spPr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sz="2800" b="1" smtClean="0">
                <a:solidFill>
                  <a:srgbClr val="FFFF00"/>
                </a:solidFill>
                <a:latin typeface="Arial" charset="0"/>
                <a:cs typeface="Arial" charset="0"/>
              </a:rPr>
              <a:t>Lenticels:</a:t>
            </a:r>
          </a:p>
          <a:p>
            <a:pPr algn="just"/>
            <a:r>
              <a:rPr lang="en-US" sz="2400" b="1" smtClean="0">
                <a:latin typeface="Arial" charset="0"/>
                <a:cs typeface="Arial" charset="0"/>
              </a:rPr>
              <a:t>Stems 			</a:t>
            </a:r>
          </a:p>
          <a:p>
            <a:pPr algn="just"/>
            <a:r>
              <a:rPr lang="en-US" sz="2400" b="1" smtClean="0">
                <a:latin typeface="Arial" charset="0"/>
                <a:cs typeface="Arial" charset="0"/>
              </a:rPr>
              <a:t>Covered by bark</a:t>
            </a:r>
          </a:p>
          <a:p>
            <a:pPr algn="just"/>
            <a:r>
              <a:rPr lang="en-US" sz="2400" b="1" smtClean="0">
                <a:latin typeface="Arial" charset="0"/>
                <a:cs typeface="Arial" charset="0"/>
              </a:rPr>
              <a:t>Impervious to gases </a:t>
            </a:r>
          </a:p>
          <a:p>
            <a:pPr algn="just"/>
            <a:r>
              <a:rPr lang="en-US" sz="2400" b="1" smtClean="0">
                <a:latin typeface="Arial" charset="0"/>
                <a:cs typeface="Arial" charset="0"/>
              </a:rPr>
              <a:t>Have small scars with small holes other than stomata, called lenticels..</a:t>
            </a:r>
          </a:p>
          <a:p>
            <a:pPr algn="just"/>
            <a:r>
              <a:rPr lang="en-US" sz="2400" b="1" smtClean="0">
                <a:latin typeface="Arial" charset="0"/>
                <a:cs typeface="Arial" charset="0"/>
              </a:rPr>
              <a:t>Allow air to pass through, from environment to internal tissues</a:t>
            </a:r>
          </a:p>
          <a:p>
            <a:pPr>
              <a:buFont typeface="Wingdings" pitchFamily="2" charset="2"/>
              <a:buChar char="ü"/>
            </a:pPr>
            <a:r>
              <a:rPr lang="en-US" sz="2800" b="1" smtClean="0">
                <a:solidFill>
                  <a:srgbClr val="FFFF00"/>
                </a:solidFill>
                <a:latin typeface="Arial" charset="0"/>
                <a:cs typeface="Arial" charset="0"/>
              </a:rPr>
              <a:t>Roots:</a:t>
            </a:r>
          </a:p>
          <a:p>
            <a:r>
              <a:rPr lang="en-US" sz="2400" b="1" smtClean="0">
                <a:latin typeface="Arial" charset="0"/>
                <a:cs typeface="Arial" charset="0"/>
              </a:rPr>
              <a:t>Get dissolved oxygen from soil water by diffusion</a:t>
            </a:r>
          </a:p>
          <a:p>
            <a:endParaRPr lang="en-US" sz="2400" b="1" smtClean="0"/>
          </a:p>
        </p:txBody>
      </p:sp>
      <p:pic>
        <p:nvPicPr>
          <p:cNvPr id="24579" name="Picture 6" descr="2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43000" cy="1363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2653107-CE4D-40B4-9917-52DE361246F8}" type="datetime2">
              <a:rPr lang="en-US" smtClean="0"/>
              <a:pPr>
                <a:defRPr/>
              </a:pPr>
              <a:t>Thursday, August 04, 2016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Gaseous exchange in plants</a:t>
            </a:r>
            <a:endParaRPr lang="en-US"/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2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2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1"/>
          <p:cNvSpPr txBox="1">
            <a:spLocks noChangeArrowheads="1"/>
          </p:cNvSpPr>
          <p:nvPr/>
        </p:nvSpPr>
        <p:spPr bwMode="auto">
          <a:xfrm>
            <a:off x="1676400" y="2803525"/>
            <a:ext cx="57912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en-US" sz="6000" b="1">
                <a:solidFill>
                  <a:srgbClr val="FFFF00"/>
                </a:solidFill>
                <a:latin typeface="Arial" charset="0"/>
              </a:rPr>
              <a:t>THANK YOU</a:t>
            </a:r>
          </a:p>
        </p:txBody>
      </p:sp>
      <p:pic>
        <p:nvPicPr>
          <p:cNvPr id="25603" name="Picture 6" descr="2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43000" cy="1363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Haleema Ismail\Desktop\dr_questio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46350" y="1206500"/>
            <a:ext cx="4051300" cy="444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7" name="Picture 6" descr="2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1143000" cy="1363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433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